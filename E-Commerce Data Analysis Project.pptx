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0"/>
  </p:handoutMasterIdLst>
  <p:sldIdLst>
    <p:sldId id="256" r:id="rId2"/>
    <p:sldId id="257" r:id="rId3"/>
    <p:sldId id="272" r:id="rId4"/>
    <p:sldId id="258" r:id="rId5"/>
    <p:sldId id="259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74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3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92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03BE4A-29F5-8D92-450D-C92DCB2407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2B2937-CEE1-CB62-DD33-4229269D17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005EF-81F8-4C9A-9F1C-73FA67C9D8F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34EA2-407A-9072-F143-FB1EB944D0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8A013-AE1A-26B2-D396-3158D6CC60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3B2A0-D807-4CA9-94F2-41DA0896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79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D8CB-9A28-B31D-937B-F5B0C13ED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17AB6-78F8-93D6-A7D0-CAD204DD8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9639C-D252-0D9E-E740-74B9FC27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50A2B-DF85-B37B-6819-AE0DF528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06830-9172-65B3-483D-0687AE7B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2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6111E-B221-ADBB-8ED9-957A0787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9A52C-5B15-143A-97B5-7D36D3EE8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FE436-4885-1B42-E43B-8FC884F74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E1E67-74C6-7AF7-3EB1-44363EB3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E4C06-1AB9-87AB-3F14-E77E7D7D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0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0669-F3C2-26B5-FC22-3108F32A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8C8A2-87E4-803E-AB62-718BFE0D5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B13ED-B5A4-3DFA-8D67-1F385D65B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05AB8-5E68-77B3-9A26-D29C8035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B5436-1ACB-98A4-22D9-EC05ADB1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7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D8BB-5DA3-BA48-374D-12625E89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55268-B08E-3309-8EC5-F4D2C8C78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97982-C820-B2B6-61D4-1E2433889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39FDC-EABC-EC25-1FB9-0171C7AC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F2B5E-5B39-F921-B50D-F486E7DA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CAFAC-CC22-72F1-3E15-D3EDC1C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1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6D8C-033B-4D1D-95F7-95A5B9C4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363AE-81CE-31D3-1FC8-C2F79644F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BFE27-96C6-B331-A591-0FD53164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F325A-2BC5-6103-2A55-AC31DD3A0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BD684-A4A4-DACB-DCD2-7F1473743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380BF-ADE3-5329-A7B4-5E799A07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BCD5D8-A6B3-8D6A-3480-4141B210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FDA3D-215D-A3A5-12CA-2ED6ADC6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2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1FA1-6BD4-4DA2-C360-A4B6B4AC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7DE60-D691-D5FA-72FF-7F995A5B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628C7-0AB7-305D-54EE-4086A4C4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2C134-035E-ECD8-4BB5-001E40CD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1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F548F-1DA5-1098-5C57-D88CC459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BB36A-36DB-425F-14B8-AC4D4BF5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26E7E-A2CA-FB5A-5CB5-54853FCA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2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293F-1CBB-A614-ABB0-5D673036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77462-11F0-5E82-F127-42F5E5C7A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895CD-901C-7E67-C512-A53B068A1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F5BCF-6BAE-4F87-65A8-26B864F2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4D9A6-9257-2400-A515-44B45424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6D15E-0070-A603-2784-5B4D7F26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3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9DE9-302D-D664-C5F7-11CDEFD7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FFF5DE-A480-C02E-BB12-B42445857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CDA53-3F85-47E9-8F1B-372C3EDBF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B7646-97F1-FE0F-915E-9169E7FF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D7F9A-69D7-0366-6FB4-B547FAEC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3C884-5B86-75D8-DCCB-D9D483DD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8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7553-7747-C421-98E8-A85E21E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D9148-1198-DCE2-5CFB-6F7819BEB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6321B-DC0D-1325-5C6B-5E20CA16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A8E0B-994D-56E4-E343-4F9C414E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BF6C3-F6A2-2065-52C6-285F93CF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8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98FE0E-1086-1006-6A7B-7BDAC1D58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5969A-D4D1-2E54-EA3E-1FF77E859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A22F0-F99C-8604-ABDD-8FEECF33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7F78F-01EB-A6CB-D0EF-5E58042F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98743-A799-678F-C4FF-41095AF0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19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C9370-82EB-FB94-1B40-B9AA1BE1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3CEDB-28A1-6707-F615-6A5BBE621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8C2EB-09A8-1E99-2F04-5621D07C6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F6CF3-FE23-4F44-8752-29F9E6987B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1D23D-71D6-6625-52D5-A424F1621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32704-2CAF-E844-D512-553CE6230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F28F8-75AA-48D5-B8CF-EED753E8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74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F995-8FC4-BD26-BA22-53DA997A8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219" y="155677"/>
            <a:ext cx="8583561" cy="1982839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2060"/>
                </a:solidFill>
              </a:rPr>
              <a:t>E-Commerce Data Analysis Project: </a:t>
            </a:r>
            <a:r>
              <a:rPr lang="en-US" sz="4800" b="1" dirty="0" err="1">
                <a:solidFill>
                  <a:srgbClr val="002060"/>
                </a:solidFill>
              </a:rPr>
              <a:t>Olist</a:t>
            </a:r>
            <a:r>
              <a:rPr lang="en-US" sz="4800" b="1" dirty="0">
                <a:solidFill>
                  <a:srgbClr val="002060"/>
                </a:solidFill>
              </a:rPr>
              <a:t> Market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10A13-B489-C094-AEA1-4DB23F7DB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013" y="3034226"/>
            <a:ext cx="9144000" cy="1655762"/>
          </a:xfrm>
        </p:spPr>
        <p:txBody>
          <a:bodyPr/>
          <a:lstStyle/>
          <a:p>
            <a:r>
              <a:rPr lang="en-US" dirty="0"/>
              <a:t>Strategic analysis using SQL, Excel, and Python to drive business decisions</a:t>
            </a:r>
            <a:r>
              <a:rPr lang="ar-EG" dirty="0"/>
              <a:t>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6B93F-0B31-D75E-6754-8EBABF1070D4}"/>
              </a:ext>
            </a:extLst>
          </p:cNvPr>
          <p:cNvSpPr txBox="1"/>
          <p:nvPr/>
        </p:nvSpPr>
        <p:spPr>
          <a:xfrm>
            <a:off x="8214852" y="6032090"/>
            <a:ext cx="3672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Prepared by: Mohamed Moussa</a:t>
            </a:r>
          </a:p>
        </p:txBody>
      </p:sp>
    </p:spTree>
    <p:extLst>
      <p:ext uri="{BB962C8B-B14F-4D97-AF65-F5344CB8AC3E}">
        <p14:creationId xmlns:p14="http://schemas.microsoft.com/office/powerpoint/2010/main" val="2778787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3B24-626E-6F63-F350-0CA68359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24957-ED09-4C7D-C66F-8BFF05D9B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693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understanding sales dips</a:t>
            </a:r>
            <a:endParaRPr lang="ar-EG" dirty="0"/>
          </a:p>
          <a:p>
            <a:r>
              <a:rPr lang="en-US" dirty="0"/>
              <a:t>Extract and clean data from complex relational databases using SQL.</a:t>
            </a:r>
          </a:p>
          <a:p>
            <a:r>
              <a:rPr lang="en-US" dirty="0"/>
              <a:t>Identify top-performing cities by sales volume and order frequency.</a:t>
            </a:r>
          </a:p>
          <a:p>
            <a:r>
              <a:rPr lang="en-US" dirty="0"/>
              <a:t>Perform statistical analysis to determine order probabilities and market share.</a:t>
            </a:r>
          </a:p>
          <a:p>
            <a:r>
              <a:rPr lang="en-US" dirty="0"/>
              <a:t>Visualize product category performance in major hubs like Sao Paulo.</a:t>
            </a:r>
          </a:p>
        </p:txBody>
      </p:sp>
    </p:spTree>
    <p:extLst>
      <p:ext uri="{BB962C8B-B14F-4D97-AF65-F5344CB8AC3E}">
        <p14:creationId xmlns:p14="http://schemas.microsoft.com/office/powerpoint/2010/main" val="49446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DAB-0A36-85B8-4E21-5F86E8AA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608" y="1655535"/>
            <a:ext cx="2180771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57325-9AB3-0C21-040A-ACD977D60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4637" y="3603171"/>
            <a:ext cx="4662715" cy="804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Monthly Sales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19B48-D977-2EEA-3C80-DA4796404F38}"/>
              </a:ext>
            </a:extLst>
          </p:cNvPr>
          <p:cNvSpPr txBox="1"/>
          <p:nvPr/>
        </p:nvSpPr>
        <p:spPr>
          <a:xfrm>
            <a:off x="2308671" y="4408112"/>
            <a:ext cx="75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Analyzing revenue growth and seasonal </a:t>
            </a:r>
            <a:r>
              <a:rPr lang="en-US" sz="2400" dirty="0"/>
              <a:t>sales</a:t>
            </a:r>
            <a:r>
              <a:rPr lang="en-US" sz="2000" dirty="0"/>
              <a:t> trajectories over time.</a:t>
            </a:r>
          </a:p>
        </p:txBody>
      </p:sp>
    </p:spTree>
    <p:extLst>
      <p:ext uri="{BB962C8B-B14F-4D97-AF65-F5344CB8AC3E}">
        <p14:creationId xmlns:p14="http://schemas.microsoft.com/office/powerpoint/2010/main" val="191245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0793-97CE-1703-AEBC-E8A6997E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9213"/>
            <a:ext cx="8512277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1: SQL - Extracting Monthly Sales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FFAFA-77FE-874B-508D-CEE9B757C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049" y="1493561"/>
            <a:ext cx="6872748" cy="56361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Aggregating revenue and order count by month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0A9B7-58DE-05D2-8E6B-F14A468CB564}"/>
              </a:ext>
            </a:extLst>
          </p:cNvPr>
          <p:cNvSpPr txBox="1"/>
          <p:nvPr/>
        </p:nvSpPr>
        <p:spPr>
          <a:xfrm>
            <a:off x="318318" y="2229369"/>
            <a:ext cx="39378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Extracted purchase dates and total price from '</a:t>
            </a:r>
            <a:r>
              <a:rPr lang="en-US" dirty="0" err="1"/>
              <a:t>olist_orders</a:t>
            </a:r>
            <a:r>
              <a:rPr lang="en-US" dirty="0"/>
              <a:t>' and '</a:t>
            </a:r>
            <a:r>
              <a:rPr lang="en-US" dirty="0" err="1"/>
              <a:t>order_items</a:t>
            </a:r>
            <a:r>
              <a:rPr lang="en-US" dirty="0"/>
              <a:t>’.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Grouped data by year and month to identify seasonal growth.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Filtered for 'delivered' status to ensure data accuracy.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B1853-19F1-4605-6531-F6EE90860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726" y="2229369"/>
            <a:ext cx="7927759" cy="445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0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580C-8F29-56C7-17DF-99D1F98F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54F1-0E6C-3182-E9E3-F3C22C9C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9" y="221226"/>
            <a:ext cx="8512277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2: Excel - Data Refinement &amp;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8EF42-01F7-BAB3-3EC0-82AECC1EB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007" y="1340039"/>
            <a:ext cx="6872748" cy="56361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Preparing the dataset for advanced visualization.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ABE7E-2B02-E6F1-8EBE-49613AE76C3A}"/>
              </a:ext>
            </a:extLst>
          </p:cNvPr>
          <p:cNvSpPr txBox="1"/>
          <p:nvPr/>
        </p:nvSpPr>
        <p:spPr>
          <a:xfrm>
            <a:off x="427703" y="2118692"/>
            <a:ext cx="3642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Handled missing values and date formatting issues.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Calculated Month-over-Month (MoM) growth rates.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Prepared a clean CSV file for Python integration.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E3D3DB-BDA0-F768-D2D2-E50866AB3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0555" y="2118692"/>
            <a:ext cx="7983604" cy="448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77AD-2A26-A20B-F62D-A065177D5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46B1-D903-4B3E-5E6B-F978AADD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6946"/>
            <a:ext cx="8512277" cy="84424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3: Python - Automated Time-Series Plotting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09A1-106E-2BAD-5236-51211DE8E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97" y="1208483"/>
            <a:ext cx="6872748" cy="56361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Using Matplotlib to visualize the revenue trend.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71C2D-D117-9B1C-D5EF-312BE2EAF207}"/>
              </a:ext>
            </a:extLst>
          </p:cNvPr>
          <p:cNvSpPr txBox="1"/>
          <p:nvPr/>
        </p:nvSpPr>
        <p:spPr>
          <a:xfrm>
            <a:off x="427703" y="2136338"/>
            <a:ext cx="28169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Pandas to load the Excel-refined data and engineered a 'Period' column for chronological plotting. 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a Line Plot to visualize the trajectory of sales over time.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custom styling (Grid, Markers, Labels) for professional output.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3EF3D-F9F8-06EF-6394-736BC7D65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570" y="1987882"/>
            <a:ext cx="8310623" cy="467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7E5D1-2766-E0A6-5FAA-F44598FA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0283-D287-E24E-A3A1-1FB92F72B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8512277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4: Visualization - Monthly Sales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EFE5-EEE9-C510-2B2F-6064183C9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278761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Clear upward trajectory in revenue from 2017 to 2018.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8133E-5C26-B18E-1FDF-6C29B1549B13}"/>
              </a:ext>
            </a:extLst>
          </p:cNvPr>
          <p:cNvSpPr txBox="1"/>
          <p:nvPr/>
        </p:nvSpPr>
        <p:spPr>
          <a:xfrm>
            <a:off x="427704" y="2047735"/>
            <a:ext cx="36281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Observation:</a:t>
            </a:r>
            <a:r>
              <a:rPr lang="en-US" dirty="0"/>
              <a:t> The business experienced steady growth with significant spikes in late 2017.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The peak sales periods align with major Brazilian retail holidays.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 Impact:</a:t>
            </a:r>
            <a:r>
              <a:rPr lang="en-US" dirty="0"/>
              <a:t> This trend helps in forecasting inventory needs for the upcoming year.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574FEA-ED8E-A5B9-0BA2-8964613AC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" b="251"/>
          <a:stretch/>
        </p:blipFill>
        <p:spPr>
          <a:xfrm>
            <a:off x="4123594" y="2699656"/>
            <a:ext cx="7865206" cy="40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98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9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A99A-CA1D-9EE4-8693-3F079869A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042" y="1112838"/>
            <a:ext cx="2325914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1B959-DE13-9065-024B-0D26555D0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8871" y="3173187"/>
            <a:ext cx="5214256" cy="943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/>
              <a:t>Olist</a:t>
            </a:r>
            <a:r>
              <a:rPr lang="en-US" sz="3200" b="1" dirty="0"/>
              <a:t> Top Cities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0A481-C2DB-4334-DB23-F92117BAD54E}"/>
              </a:ext>
            </a:extLst>
          </p:cNvPr>
          <p:cNvSpPr txBox="1"/>
          <p:nvPr/>
        </p:nvSpPr>
        <p:spPr>
          <a:xfrm>
            <a:off x="2203902" y="4116615"/>
            <a:ext cx="7784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Analyzing regional sales distribution and market dominance</a:t>
            </a:r>
          </a:p>
        </p:txBody>
      </p:sp>
    </p:spTree>
    <p:extLst>
      <p:ext uri="{BB962C8B-B14F-4D97-AF65-F5344CB8AC3E}">
        <p14:creationId xmlns:p14="http://schemas.microsoft.com/office/powerpoint/2010/main" val="771053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FD81-49EE-8D2A-9F9E-EEEEB5CA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EE65-6C0B-66F3-219A-80D51DB20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8512277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1: SQL - Geographic Sales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96156-59AA-490E-4D45-8E76E7452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278761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Identifying Top Revenue-Generating Cities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04B0F-829A-F98E-2911-24C975656F2F}"/>
              </a:ext>
            </a:extLst>
          </p:cNvPr>
          <p:cNvSpPr txBox="1"/>
          <p:nvPr/>
        </p:nvSpPr>
        <p:spPr>
          <a:xfrm>
            <a:off x="427704" y="2047735"/>
            <a:ext cx="36281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Joined 'Orders', 'Customers', and 'Items' tables to map sales to locations.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Aggregated total revenue, order volume, and Average</a:t>
            </a:r>
            <a:r>
              <a:rPr lang="en-US" b="1" dirty="0"/>
              <a:t> </a:t>
            </a:r>
            <a:r>
              <a:rPr lang="en-US" dirty="0"/>
              <a:t>Order</a:t>
            </a:r>
            <a:r>
              <a:rPr lang="en-US" b="1" dirty="0"/>
              <a:t> </a:t>
            </a:r>
            <a:r>
              <a:rPr lang="en-US" dirty="0"/>
              <a:t>Value</a:t>
            </a:r>
            <a:r>
              <a:rPr lang="en-US" b="1" dirty="0"/>
              <a:t> </a:t>
            </a:r>
            <a:r>
              <a:rPr lang="en-US" dirty="0"/>
              <a:t>(AOV) per city to identify profitability.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Filtered for the Top 10 cities to focus on high-impact markets.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B9ED96-508E-1D56-D242-4F3380084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5806" y="2047735"/>
            <a:ext cx="8083577" cy="45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4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CD80-F8F4-2927-F70C-779A2AF7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FF29-3AAE-8094-03ED-F7E044B2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10486103" cy="84424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2: Excel - Statistical Analysis: Market Share &amp;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A0BE1-0F3D-97A4-56A0-5AF1649AB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278761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Quantifying the dominance of major hubs.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217F2-0C39-4801-31EF-18E52347CDAE}"/>
              </a:ext>
            </a:extLst>
          </p:cNvPr>
          <p:cNvSpPr txBox="1"/>
          <p:nvPr/>
        </p:nvSpPr>
        <p:spPr>
          <a:xfrm>
            <a:off x="427704" y="2047734"/>
            <a:ext cx="3447610" cy="2335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Calculated the Market Share and Order Probability for each hub.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the cumulative market share of the top 10 cities.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Validated data consistency before Python visualization.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3D4C57-0927-2294-E2EE-B5EA19918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5806" y="2047735"/>
            <a:ext cx="8083577" cy="45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7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8CCB-1C72-6EB1-6F77-098970F56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6471-FBA9-1E65-CE2F-B1B48E60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11621729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3: </a:t>
            </a:r>
            <a:r>
              <a:rPr lang="en-US" b="1" dirty="0">
                <a:solidFill>
                  <a:srgbClr val="002060"/>
                </a:solidFill>
              </a:rPr>
              <a:t>Python Automation: Ranking Visualization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0FD8D-C96B-1D44-7612-8633E674F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792497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Creating a professional Bar Chart for executive reporting.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38CDA-A338-F36F-44B0-5A52F359EE6C}"/>
              </a:ext>
            </a:extLst>
          </p:cNvPr>
          <p:cNvSpPr txBox="1"/>
          <p:nvPr/>
        </p:nvSpPr>
        <p:spPr>
          <a:xfrm>
            <a:off x="427704" y="2047735"/>
            <a:ext cx="32008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Handled data type conversion (Float to String) for city labels.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Customized aesthetics using 'Teal' color coding and grid formatting.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the chart generation to allow for future dataset updates.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C93FD-52E3-6703-9575-D9A5DC5C1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5807" y="2047735"/>
            <a:ext cx="8083575" cy="454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6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B67D-2B93-851A-B45A-7A2BD93B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B1B-46CA-B4F2-304F-9AB51D121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12447639" cy="84424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Step 4: Final Insight -</a:t>
            </a:r>
            <a:r>
              <a:rPr lang="ar-EG" sz="2800" b="1" dirty="0">
                <a:solidFill>
                  <a:srgbClr val="002060"/>
                </a:solidFill>
              </a:rPr>
              <a:t> </a:t>
            </a:r>
            <a:r>
              <a:rPr lang="en-US" sz="3600" b="1" dirty="0">
                <a:solidFill>
                  <a:srgbClr val="002060"/>
                </a:solidFill>
              </a:rPr>
              <a:t>Geographic Insight: The Dominance of Sao Paulo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689CE-8184-AF2F-7CD2-7EFDED20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792497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 visual breakdown of regional sales performance.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8F237-8B53-C60B-2A26-31656E5A3CD7}"/>
              </a:ext>
            </a:extLst>
          </p:cNvPr>
          <p:cNvSpPr txBox="1"/>
          <p:nvPr/>
        </p:nvSpPr>
        <p:spPr>
          <a:xfrm>
            <a:off x="427704" y="2047735"/>
            <a:ext cx="36281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Observation:</a:t>
            </a:r>
            <a:br>
              <a:rPr lang="ar-EG" b="1" dirty="0"/>
            </a:br>
            <a:r>
              <a:rPr lang="en-US" dirty="0"/>
              <a:t>Sao Paulo is the primary market driver, significantly outperforming Rio de Janeiro.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Market Insight:</a:t>
            </a:r>
            <a:br>
              <a:rPr lang="ar-EG" b="1" dirty="0"/>
            </a:br>
            <a:r>
              <a:rPr lang="en-US" dirty="0"/>
              <a:t>Over 40% of top-tier sales are concentrated in just the top 2 cities.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Strategic Recommendation:</a:t>
            </a:r>
            <a:r>
              <a:rPr lang="en-US" dirty="0"/>
              <a:t> Optimize logistics and warehouse placement in Sao Paulo to reduce delivery times.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FCFA5A-786C-18EB-557B-A1CDBE114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589" y="2047734"/>
            <a:ext cx="7983566" cy="48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0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9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3A83-39C8-42B0-8D19-2126F82CB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614" y="1461406"/>
            <a:ext cx="2688771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Phase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28556-A528-BB24-9C57-60FD379DD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326" y="3429000"/>
            <a:ext cx="5083629" cy="845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Sao Paulo Products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7C70E-EF9A-92F1-8B70-E690D8BDAC58}"/>
              </a:ext>
            </a:extLst>
          </p:cNvPr>
          <p:cNvSpPr txBox="1"/>
          <p:nvPr/>
        </p:nvSpPr>
        <p:spPr>
          <a:xfrm>
            <a:off x="820055" y="4274004"/>
            <a:ext cx="10551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Identifying top-performing product categories and consumer niche demands.</a:t>
            </a:r>
          </a:p>
        </p:txBody>
      </p:sp>
    </p:spTree>
    <p:extLst>
      <p:ext uri="{BB962C8B-B14F-4D97-AF65-F5344CB8AC3E}">
        <p14:creationId xmlns:p14="http://schemas.microsoft.com/office/powerpoint/2010/main" val="818862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77D8-D805-4324-6F02-8872DC00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B4A5-3ED6-23BF-2E19-8FDB72C8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11621729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1: SQL - Sao Paulo Product Category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E9E9F-A3A5-94D9-BDDB-FAA2B79EE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792497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Uncovering Demand in the Top-Performing 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58865-3668-F7F5-9A2E-5C1E4BEBFCEF}"/>
              </a:ext>
            </a:extLst>
          </p:cNvPr>
          <p:cNvSpPr txBox="1"/>
          <p:nvPr/>
        </p:nvSpPr>
        <p:spPr>
          <a:xfrm>
            <a:off x="427704" y="2047735"/>
            <a:ext cx="31137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Executed a Multi-table Join (4 datasets) to correlate product categories with specific geographical customer data. 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multi-layered filtering to isolate delivered orders within the Sao Paulo market.. 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Aggregated sales volume and total revenue per product category.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63425-5F28-9092-C0D9-CE1E52D7C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5807" y="2047735"/>
            <a:ext cx="8083575" cy="454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01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BE8C5-99F0-2BC9-A21C-4DADAC49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B32A-281C-76F8-C2A4-E1E0679D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11621729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2: Excel - Processing &amp; Formatting Product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9871A-045A-454C-7FF5-AE68C2311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792497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Preparing high-volume data for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F99DF-E99D-6891-5ABC-C8C8BC0DFA5B}"/>
              </a:ext>
            </a:extLst>
          </p:cNvPr>
          <p:cNvSpPr txBox="1"/>
          <p:nvPr/>
        </p:nvSpPr>
        <p:spPr>
          <a:xfrm>
            <a:off x="427704" y="2047735"/>
            <a:ext cx="32153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Mapped Portuguese category names to English for better reporting.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Identified the top 10 most popular categories by revenue contribution.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Exported the refined dataset for Python horizontal bar charting.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213EC1-860D-6771-2007-928D69137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5807" y="2047735"/>
            <a:ext cx="8083575" cy="454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35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515D-45F9-F379-A276-35D3F83AE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C559-7B68-0FB4-372B-4F0A87CB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11621729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3: Python - Visualizing High-Density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4D64F-F9D8-ACE8-AD94-BB29B299F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792497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Creating readable charts for long label names.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EB75E-2FA0-1503-1A29-A824275819D9}"/>
              </a:ext>
            </a:extLst>
          </p:cNvPr>
          <p:cNvSpPr txBox="1"/>
          <p:nvPr/>
        </p:nvSpPr>
        <p:spPr>
          <a:xfrm>
            <a:off x="427704" y="2047735"/>
            <a:ext cx="34185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a Horizontal Bar Chart (</a:t>
            </a:r>
            <a:r>
              <a:rPr lang="en-US" dirty="0" err="1"/>
              <a:t>barh</a:t>
            </a:r>
            <a:r>
              <a:rPr lang="en-US" dirty="0"/>
              <a:t>) to ensure full category names are visible.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a "Salmon" color theme to distinguish this phase from city-level analysis.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Sorted data in descending order and inverted the Y-axis for top-to-bottom ranking visibility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90B05A-96A3-2C79-BFD4-C8A93665F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5808" y="2047735"/>
            <a:ext cx="8083573" cy="454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A5C8-B2CE-2901-B49A-20179B2C5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E855-7482-D670-2935-A393BA1F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526"/>
            <a:ext cx="11621729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Step 4:</a:t>
            </a:r>
            <a:r>
              <a:rPr lang="ar-EG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>
                <a:solidFill>
                  <a:srgbClr val="002060"/>
                </a:solidFill>
              </a:rPr>
              <a:t>Product Insights</a:t>
            </a:r>
            <a:r>
              <a:rPr lang="ar-EG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>
                <a:solidFill>
                  <a:srgbClr val="002060"/>
                </a:solidFill>
              </a:rPr>
              <a:t>Sao Paulo Market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C9BA5-4DCF-CFBF-4C70-0368E149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16" y="1163528"/>
            <a:ext cx="8792497" cy="442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Identifying growth opportunities in specific niches.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44AA1-E5B1-27DE-EC50-E6CD74A2CA3B}"/>
              </a:ext>
            </a:extLst>
          </p:cNvPr>
          <p:cNvSpPr txBox="1"/>
          <p:nvPr/>
        </p:nvSpPr>
        <p:spPr>
          <a:xfrm>
            <a:off x="427704" y="2047735"/>
            <a:ext cx="36281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Observation:</a:t>
            </a:r>
            <a:br>
              <a:rPr lang="ar-EG" dirty="0"/>
            </a:br>
            <a:r>
              <a:rPr lang="en-US" dirty="0"/>
              <a:t>Health &amp; Beauty (Beleza Saude) and Bed &amp; Bath Decor are the highest-grossing categories.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Consumer Insight:</a:t>
            </a:r>
            <a:r>
              <a:rPr lang="en-US" dirty="0"/>
              <a:t> </a:t>
            </a:r>
            <a:br>
              <a:rPr lang="ar-EG" dirty="0"/>
            </a:br>
            <a:r>
              <a:rPr lang="en-US" dirty="0"/>
              <a:t>Sao Paulo's market is heavily driven by lifestyle and personal care products.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Final Recommendation:</a:t>
            </a:r>
            <a:r>
              <a:rPr lang="en-US" dirty="0"/>
              <a:t> </a:t>
            </a:r>
            <a:br>
              <a:rPr lang="ar-EG" dirty="0"/>
            </a:br>
            <a:r>
              <a:rPr lang="en-US" dirty="0"/>
              <a:t>Run targeted promotion campaigns for "Personal Care" items to maximize ROI in this region.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8765E-BF2E-125F-2E0B-2224926F7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5" b="8045"/>
          <a:stretch/>
        </p:blipFill>
        <p:spPr>
          <a:xfrm>
            <a:off x="4094410" y="2102648"/>
            <a:ext cx="7954680" cy="4472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72923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8DFE-DF61-105D-2513-E0C78E2D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97" y="45529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473D9-89A3-F987-6761-6F989D48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562"/>
            <a:ext cx="10515600" cy="2171188"/>
          </a:xfrm>
        </p:spPr>
        <p:txBody>
          <a:bodyPr/>
          <a:lstStyle/>
          <a:p>
            <a:r>
              <a:rPr lang="en-US" dirty="0"/>
              <a:t>Successfully integrated SQL, Excel, and Python for a full-cycle analysis.</a:t>
            </a:r>
            <a:endParaRPr lang="ar-EG" dirty="0"/>
          </a:p>
          <a:p>
            <a:r>
              <a:rPr lang="en-US" dirty="0"/>
              <a:t>Identified key markets and product winners to guide business strategy.</a:t>
            </a:r>
            <a:endParaRPr lang="ar-EG" dirty="0"/>
          </a:p>
          <a:p>
            <a:r>
              <a:rPr lang="en-US" dirty="0"/>
              <a:t>Ready for deployment or further predictive modeling.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EA389-E03B-FC7A-8B37-D7DB7A6D0BD5}"/>
              </a:ext>
            </a:extLst>
          </p:cNvPr>
          <p:cNvSpPr txBox="1"/>
          <p:nvPr/>
        </p:nvSpPr>
        <p:spPr>
          <a:xfrm>
            <a:off x="838200" y="6002594"/>
            <a:ext cx="1757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94914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842</Words>
  <Application>Microsoft Office PowerPoint</Application>
  <PresentationFormat>Widescreen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E-Commerce Data Analysis Project: Olist Market Insights</vt:lpstr>
      <vt:lpstr>Project Overview</vt:lpstr>
      <vt:lpstr>Phase 1</vt:lpstr>
      <vt:lpstr>Step 1: SQL - Extracting Monthly Sales Trends</vt:lpstr>
      <vt:lpstr>Step 2: Excel - Data Refinement &amp; Calculations</vt:lpstr>
      <vt:lpstr>Step 3: Python - Automated Time-Series Plotting</vt:lpstr>
      <vt:lpstr>Step 4: Visualization - Monthly Sales Summary</vt:lpstr>
      <vt:lpstr>Phase 2</vt:lpstr>
      <vt:lpstr>Step 1: SQL - Geographic Sales Performance</vt:lpstr>
      <vt:lpstr>Step 2: Excel - Statistical Analysis: Market Share &amp; Probability</vt:lpstr>
      <vt:lpstr>Step 3: Python Automation: Ranking Visualization</vt:lpstr>
      <vt:lpstr>Step 4: Final Insight - Geographic Insight: The Dominance of Sao Paulo</vt:lpstr>
      <vt:lpstr>Phase 3</vt:lpstr>
      <vt:lpstr>Step 1: SQL - Sao Paulo Product Category Analysis</vt:lpstr>
      <vt:lpstr>Step 2: Excel - Processing &amp; Formatting Product Data</vt:lpstr>
      <vt:lpstr>Step 3: Python - Visualizing High-Density Categories</vt:lpstr>
      <vt:lpstr>Step 4: Product Insights - Sao Paulo Market Demand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Moussa JR</dc:creator>
  <cp:lastModifiedBy>Moussa JR</cp:lastModifiedBy>
  <cp:revision>6</cp:revision>
  <dcterms:created xsi:type="dcterms:W3CDTF">2026-04-06T12:01:31Z</dcterms:created>
  <dcterms:modified xsi:type="dcterms:W3CDTF">2026-04-06T15:59:27Z</dcterms:modified>
</cp:coreProperties>
</file>